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87168"/>
            <a:ext cx="12188952" cy="10972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MOVEV  GOshow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Evolución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84831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Cargador rápido DC para vehículos eléctricos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788920"/>
            <a:ext cx="6336792" cy="2148840"/>
          </a:xfrm>
          <a:prstGeom prst="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907792"/>
            <a:ext cx="5971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Juan Pedro de León</a:t>
            </a:r>
          </a:p>
          <a:p>
            <a:pPr algn="ctr"/>
            <a:r>
              <a:rPr sz="1300" b="0">
                <a:solidFill>
                  <a:srgbClr val="00B4D8"/>
                </a:solidFill>
              </a:rPr>
              <a:t>Posgrado en Fabricación Digital e Innovación</a:t>
            </a:r>
          </a:p>
          <a:p>
            <a:pPr algn="ctr"/>
            <a:r>
              <a:rPr sz="1300" b="0">
                <a:solidFill>
                  <a:srgbClr val="606060"/>
                </a:solidFill>
              </a:rPr>
              <a:t>UTEC · Fab Lab Barcelona</a:t>
            </a:r>
          </a:p>
          <a:p>
            <a:pPr algn="ctr"/>
            <a:r>
              <a:rPr sz="1300" b="0">
                <a:solidFill>
                  <a:srgbClr val="606060"/>
                </a:solidFill>
              </a:rPr>
              <a:t>Rivera, Uruguay · 2025 –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</a:rPr>
              <a:t>MOVEV · Charging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El Concepto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Inicio del posgrado — Segundo semestre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2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577840" cy="5166360"/>
          </a:xfrm>
          <a:prstGeom prst="rect">
            <a:avLst/>
          </a:prstGeom>
          <a:solidFill>
            <a:srgbClr val="FFFFFF"/>
          </a:solidFill>
          <a:ln w="1651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46304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Contexto del proyecto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74519"/>
            <a:ext cx="5349240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938528"/>
            <a:ext cx="5257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</a:rPr>
              <a:t>▸  Startup de cargadores eléctricos en desarrollo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Diseño concebido para el mercado brasileño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Abastecimiento previsto desde Brasil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Idea inicial: integrar un biorreactor de algas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    como componente ambiental diferenciador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Controlador: Phoenix Contact EVPLC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Fuentes: 4 × Phoenix Contact CHARX 30kW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Potencia máxima: 120 kW DC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▸  Peso fuentes: 4 × 27 kg = 108 kg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71600"/>
            <a:ext cx="5806440" cy="2423160"/>
          </a:xfrm>
          <a:prstGeom prst="rect">
            <a:avLst/>
          </a:prstGeom>
          <a:solidFill>
            <a:srgbClr val="E8F4FD"/>
          </a:solidFill>
          <a:ln w="1651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Especificaciones originales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623560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</a:rPr>
              <a:t>Potencia total:      120 kW DC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Módulos de potencia: 4 × 30 kW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Peso por módulo:     27 kg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Controlador:         Phoenix EVPLC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Mercado objetivo:    Brasil / LATAM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Conector:            CCS2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5806440" cy="2606040"/>
          </a:xfrm>
          <a:prstGeom prst="rect">
            <a:avLst/>
          </a:prstGeom>
          <a:solidFill>
            <a:srgbClr val="FFF3CD"/>
          </a:solidFill>
          <a:ln w="19050">
            <a:solidFill>
              <a:srgbClr val="E0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5600"/>
                </a:solidFill>
              </a:rPr>
              <a:t>Idea innovadora inicial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434840"/>
            <a:ext cx="5623560" cy="32004"/>
          </a:xfrm>
          <a:prstGeom prst="rect">
            <a:avLst/>
          </a:prstGeom>
          <a:solidFill>
            <a:srgbClr val="E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498848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A3A00"/>
                </a:solidFill>
              </a:rPr>
              <a:t>Biorreactor de algas integrado al cargador</a:t>
            </a:r>
          </a:p>
          <a:p>
            <a:pPr algn="l"/>
            <a:r>
              <a:rPr sz="1250" b="0">
                <a:solidFill>
                  <a:srgbClr val="5A3A00"/>
                </a:solidFill>
              </a:rPr>
              <a:t>como componente ambiental y diferenciador.</a:t>
            </a:r>
          </a:p>
          <a:p>
            <a:pPr algn="l"/>
            <a:r>
              <a:rPr sz="1250" b="0">
                <a:solidFill>
                  <a:srgbClr val="5A3A00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5A3A00"/>
                </a:solidFill>
              </a:rPr>
              <a:t>Esta idea fue descartada durante el desarrollo</a:t>
            </a:r>
          </a:p>
          <a:p>
            <a:pPr algn="l"/>
            <a:r>
              <a:rPr sz="1250" b="0">
                <a:solidFill>
                  <a:srgbClr val="5A3A00"/>
                </a:solidFill>
              </a:rPr>
              <a:t>al aparecer problemas técnicos concretos y</a:t>
            </a:r>
          </a:p>
          <a:p>
            <a:pPr algn="l"/>
            <a:r>
              <a:rPr sz="1250" b="0">
                <a:solidFill>
                  <a:srgbClr val="5A3A00"/>
                </a:solidFill>
              </a:rPr>
              <a:t>cambios de proveedor que reencauzaron el foco.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El Diseño Original No Era Recuperable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Los problemas detectados y la decisión de reiniciar desde cero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3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566160" cy="4251960"/>
          </a:xfrm>
          <a:prstGeom prst="rect">
            <a:avLst/>
          </a:prstGeom>
          <a:solidFill>
            <a:srgbClr val="FFEBEE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</a:rPr>
              <a:t>Problemas Estructurales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74519"/>
            <a:ext cx="3346704" cy="320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385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▸  Carga estructural del gabinete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mal distribuida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Ingreso de agua en componentes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críticos (uso exterior)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Dificultades de transporte por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distribución de masas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Puntos de izaje no definidos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Sin control propio del modelo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CAD 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371600"/>
            <a:ext cx="3566160" cy="4251960"/>
          </a:xfrm>
          <a:prstGeom prst="rect">
            <a:avLst/>
          </a:prstGeom>
          <a:solidFill>
            <a:srgbClr val="FFEBEE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</a:rPr>
              <a:t>Problemas de Proveedores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8" y="1874519"/>
            <a:ext cx="3346704" cy="320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9385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▸  Phoenix Contact sin representación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en Uruguay para cargadores EV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Proyecto diseñado para Brasil: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componentes inaccesibles en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el mercado local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Cambio de proveedor de fuentes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obligó a replantear el layout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interno completo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Sin autonomía de diseño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371600"/>
            <a:ext cx="3566160" cy="425196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6B6"/>
                </a:solidFill>
              </a:rPr>
              <a:t>La Decisión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7" y="1874519"/>
            <a:ext cx="3346704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9385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NO "parchar" el diseño:</a:t>
            </a:r>
          </a:p>
          <a:p>
            <a:pPr algn="l"/>
            <a:r>
              <a:rPr sz="1200" b="1">
                <a:solidFill>
                  <a:srgbClr val="0076B6"/>
                </a:solidFill>
              </a:rPr>
              <a:t>REINICIAR DESDE CERO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Nuevo modelo en Fusion 360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con control total del CAD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Criterios prioritarios: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▸  Fabricabilidad local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▸  Modularidad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▸  Robustez estructural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▸  Fácil mantenimiento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▸  Autonomía técnica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870448"/>
            <a:ext cx="11640312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11274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"El problema no era solo técnico, sino también estructural y metodológico."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Cambio 1: Fuentes de Potencia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Phoenix Contact 30 kW  →  Maxwell 50 kW  |  Impacto directo en el diseño estructural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4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349240" cy="5166360"/>
          </a:xfrm>
          <a:prstGeom prst="rect">
            <a:avLst/>
          </a:prstGeom>
          <a:solidFill>
            <a:srgbClr val="FFF3CD"/>
          </a:solidFill>
          <a:ln w="25400">
            <a:solidFill>
              <a:srgbClr val="E0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A5600"/>
                </a:solidFill>
              </a:rPr>
              <a:t>ANTES — Phoenix Contact CHARX 30kW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901952"/>
            <a:ext cx="5120640" cy="32004"/>
          </a:xfrm>
          <a:prstGeom prst="rect">
            <a:avLst/>
          </a:prstGeom>
          <a:solidFill>
            <a:srgbClr val="E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</a:rPr>
              <a:t>Potencia por módulo:</a:t>
            </a:r>
          </a:p>
          <a:p>
            <a:pPr algn="l"/>
            <a:r>
              <a:rPr sz="1250" b="1">
                <a:solidFill>
                  <a:srgbClr val="1A1A1A"/>
                </a:solidFill>
              </a:rPr>
              <a:t>  30 kW DC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Cantidad de módulos:</a:t>
            </a:r>
          </a:p>
          <a:p>
            <a:pPr algn="l"/>
            <a:r>
              <a:rPr sz="1250" b="1">
                <a:solidFill>
                  <a:srgbClr val="1A1A1A"/>
                </a:solidFill>
              </a:rPr>
              <a:t>  4 unidades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Potencia total:</a:t>
            </a:r>
          </a:p>
          <a:p>
            <a:pPr algn="l"/>
            <a:r>
              <a:rPr sz="1250" b="1">
                <a:solidFill>
                  <a:srgbClr val="1A1A1A"/>
                </a:solidFill>
              </a:rPr>
              <a:t>  120 kW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Peso por módulo:</a:t>
            </a:r>
          </a:p>
          <a:p>
            <a:pPr algn="l"/>
            <a:r>
              <a:rPr sz="1250" b="1">
                <a:solidFill>
                  <a:srgbClr val="C0392B"/>
                </a:solidFill>
              </a:rPr>
              <a:t>  27 kg  →  total: 108 kg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Disponibilidad UY:</a:t>
            </a:r>
          </a:p>
          <a:p>
            <a:pPr algn="l"/>
            <a:r>
              <a:rPr sz="1250" b="1">
                <a:solidFill>
                  <a:srgbClr val="C0392B"/>
                </a:solidFill>
              </a:rPr>
              <a:t>  Sin representación local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Layout interno: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  4 fuentes en vertical,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  espacio interno muy reducido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2" y="32918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76B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1371600"/>
            <a:ext cx="5349240" cy="516636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76B6"/>
                </a:solidFill>
              </a:rPr>
              <a:t>DESPUÉS — Maxwell MXR100050B 50kW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56832" y="1901952"/>
            <a:ext cx="5120640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965960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</a:rPr>
              <a:t>Potencia por módulo:</a:t>
            </a:r>
          </a:p>
          <a:p>
            <a:pPr algn="l"/>
            <a:r>
              <a:rPr sz="1250" b="1">
                <a:solidFill>
                  <a:srgbClr val="1A1A1A"/>
                </a:solidFill>
              </a:rPr>
              <a:t>  50 kW DC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Cantidad de módulos:</a:t>
            </a:r>
          </a:p>
          <a:p>
            <a:pPr algn="l"/>
            <a:r>
              <a:rPr sz="1250" b="1">
                <a:solidFill>
                  <a:srgbClr val="1E884C"/>
                </a:solidFill>
              </a:rPr>
              <a:t>  3 unidades (−1 fuente)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Potencia total:</a:t>
            </a:r>
          </a:p>
          <a:p>
            <a:pPr algn="l"/>
            <a:r>
              <a:rPr sz="1250" b="1">
                <a:solidFill>
                  <a:srgbClr val="1E884C"/>
                </a:solidFill>
              </a:rPr>
              <a:t>  150 kW  (+25%)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Peso por módulo:</a:t>
            </a:r>
          </a:p>
          <a:p>
            <a:pPr algn="l"/>
            <a:r>
              <a:rPr sz="1250" b="1">
                <a:solidFill>
                  <a:srgbClr val="1E884C"/>
                </a:solidFill>
              </a:rPr>
              <a:t>  23 kg  →  total: 69 kg  (−36%)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Disponibilidad:</a:t>
            </a:r>
          </a:p>
          <a:p>
            <a:pPr algn="l"/>
            <a:r>
              <a:rPr sz="1250" b="1">
                <a:solidFill>
                  <a:srgbClr val="1E884C"/>
                </a:solidFill>
              </a:rPr>
              <a:t>  Proveedor activo en el mercado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Layout interno:</a:t>
            </a:r>
          </a:p>
          <a:p>
            <a:pPr algn="l"/>
            <a:r>
              <a:rPr sz="1250" b="1">
                <a:solidFill>
                  <a:srgbClr val="1E884C"/>
                </a:solidFill>
              </a:rPr>
              <a:t>  Más espacio libre, mejor flujo</a:t>
            </a:r>
          </a:p>
          <a:p>
            <a:pPr algn="l"/>
            <a:r>
              <a:rPr sz="1250" b="0">
                <a:solidFill>
                  <a:srgbClr val="1A1A1A"/>
                </a:solidFill>
              </a:rPr>
              <a:t>  de aire y acceso técnico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Cambio 2: Sistema de Control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Phoenix EVPLC  →  Vector vSECC.single · IMD · Contactora DC 400A · GSM · Raspberry 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5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5440680" cy="2212848"/>
          </a:xfrm>
          <a:prstGeom prst="rect">
            <a:avLst/>
          </a:prstGeom>
          <a:solidFill>
            <a:srgbClr val="E8F4FD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3560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Controlador: Vector vSECC.single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47088"/>
            <a:ext cx="5221224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911095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▸  Diseñado específicamente para estaciones EVSE AC/DC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Protocolo CCS2 + ISO 15118 nativo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Gestión con PLC, medidores, IMD y backend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Mayor alineación normativa IEC 61851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3952" y="1353312"/>
            <a:ext cx="5440680" cy="2212848"/>
          </a:xfrm>
          <a:prstGeom prst="rect">
            <a:avLst/>
          </a:prstGeom>
          <a:solidFill>
            <a:srgbClr val="E8F4FD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3560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IMD + Contactora DC 400A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1847088"/>
            <a:ext cx="5221224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11095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▸  IMD: monitorea fugas de aislamiento hasta 1000 VDC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Ante falla: abre contactora DC, el PLC sigue activo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Permite diagnóstico remoto y registro de eventos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Contactora 400A incorporada por esta lógica de seguridad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21608"/>
            <a:ext cx="5440680" cy="2212848"/>
          </a:xfrm>
          <a:prstGeom prst="rect">
            <a:avLst/>
          </a:prstGeom>
          <a:solidFill>
            <a:srgbClr val="E8F4FD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803904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Monitoreo Remoto GSM / LTE 4G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215384"/>
            <a:ext cx="5221224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279392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▸  Circuito dedicado de telemetría vía datos móviles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Dashboard web: estado, alarmas, energía entregada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Comunicación directa con el PLC principal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Base tecnológica para red comercial de cargadores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3721608"/>
            <a:ext cx="5440680" cy="2212848"/>
          </a:xfrm>
          <a:prstGeom prst="rect">
            <a:avLst/>
          </a:prstGeom>
          <a:solidFill>
            <a:srgbClr val="E8F4FD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803904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Raspberry Pi + PiSignage + Apache/PHP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4215384"/>
            <a:ext cx="5221224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279392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▸  Integración vía bus I2C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Pantalla dual: estado de carga + publicidad dinámica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Servidor Apache/PHP para contenido propio configurable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Separación entre lógica crítica de carga y multimedia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331720"/>
            <a:ext cx="146304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395728"/>
            <a:ext cx="1371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GOshow</a:t>
            </a:r>
          </a:p>
          <a:p>
            <a:pPr algn="ctr"/>
            <a:r>
              <a:rPr sz="1100" b="0">
                <a:solidFill>
                  <a:srgbClr val="00B4D8"/>
                </a:solidFill>
              </a:rPr>
              <a:t>150kW DC</a:t>
            </a:r>
          </a:p>
          <a:p>
            <a:pPr algn="ctr"/>
            <a:r>
              <a:rPr sz="1100" b="0">
                <a:solidFill>
                  <a:srgbClr val="00B4D8"/>
                </a:solidFill>
              </a:rPr>
              <a:t>+ 22kW 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La Realidad del Mercado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Búsqueda de proveedores en Uruguay · Mayo – Junio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6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406640" cy="2331720"/>
          </a:xfrm>
          <a:prstGeom prst="rect">
            <a:avLst/>
          </a:prstGeom>
          <a:solidFill>
            <a:srgbClr val="FFEBEE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✗  Tincafil — Rivera, Uruguay  (mayo–junio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74519"/>
            <a:ext cx="7269480" cy="320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7132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Primer intento de cotización de fabricación estructural del gabinete.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27/05  →  Archivo 3D .IGES enviado con indicaciones de ensamblaje (Chapa Sold / Ind, CH16, 1,5mm).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02/06  →  Tincafil solicita formato .DWG (¡2D!).  |  04/06  →  Se explica que el gabinete es demasiado complejo para 2D.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04/06  →  Aceptan formato .STEP, aguardan archivo.  Resultado: sin presupuesto de fabricación cerrado.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7406640" cy="23317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13632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✓  RECUFLON — Tarariras, Colonia  (29 mayo 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343400"/>
            <a:ext cx="7269480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7132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Primer presupuesto formal obtenido. Especialista en tratamiento superficial y pintura en polvo electrostática.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Presupuesto Nro. 20260529_01  |  Opción 1: USD 525 + IVA  |  Opción 2 (con fondo): USD 620 + IVA por unidad.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Colores: Negro Opaco (chasis) · Negro Satinado (carcasa) · Azul RAL 5012 (fibra de vidrio).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371600"/>
            <a:ext cx="3977639" cy="4800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46304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892807"/>
            <a:ext cx="3776472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19659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 Sin proveedor integral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en el interior del país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para este tipo de proyecto.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2.  Brecha tecnológica real: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talleres solo trabajan en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2D, no interpretan 3D.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3.  Fabricación propia =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única vía de avanzar.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B4D8"/>
                </a:solidFill>
              </a:rPr>
              <a:t>→  Justifica aprender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soldadura MIG y fabricar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la estructura de forma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autónoma.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La Respuesta: Autonomía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Fabricación propia · Documentación de ingeniería · Planos técnicos 2D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7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3749039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356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Soldadura MIG — Fabricación propia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65376"/>
            <a:ext cx="3529583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29384"/>
            <a:ext cx="34747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Ante la ausencia de un proveedor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que fabrique la estructura, se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tomaron dos decisiones concretas: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Inscripción en curso de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soldadura MIG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Compra de soldadora MIG propia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Impacto en el diseño en Fusion 360: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Cada unión se piensa con el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ángulo de antorcha y la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penetración del cordón.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Design for Manufacturing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como práctica física real.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Estructura: ~44 kg · 10 perfiles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53312"/>
            <a:ext cx="3749039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356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Planos de Ingeniería Emitidos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865376"/>
            <a:ext cx="3529583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929384"/>
            <a:ext cx="34747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Para proveedores sin capacidad 3D,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se generaron planos 2D normalizados: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Anexo I — Negro Opaco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(chasis, 848×2023×350 mm)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Anexo II — Negro Satinado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(carcasa, 642×1976 mm)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Anexo III — Azul RAL 5012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(fibra de vidrio)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Planos de ingeniería formales: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MOV-SIF-001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Instalación en campo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MOV-GShow-CA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Control Assembly 150kW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53312"/>
            <a:ext cx="3749039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356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Modelo 3D — GOshow Final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1865376"/>
            <a:ext cx="3529583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29384"/>
            <a:ext cx="34747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Modelo Fusion 360 completo con: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Estructura portante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Cerramientos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Bandejas eléctricas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Sistemas de ventilación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Soporte de izaje (tornillo)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▸  Indicador LED CCS2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(WS2812B programables)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Archivo exportado a .STEP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(GOshow v1.3 + Nayax)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para cotización externa.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Control total del CAD →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adaptable a cambios de proveedor.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57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Estado Actual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Mayo – Junio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817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MOVEV · GOshow · Evolución del Proyecto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52881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8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6949440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35608"/>
            <a:ext cx="6675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6B6"/>
                </a:solidFill>
              </a:rPr>
              <a:t>Seguimiento del proyecto — Junio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65376"/>
            <a:ext cx="6812280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84C"/>
                </a:solidFill>
              </a:rPr>
              <a:t>✓ LISTO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938528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Rediseño estructural completo en Fusion 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9716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84C"/>
                </a:solidFill>
              </a:rPr>
              <a:t>✓ LISTO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2299716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Lista de piezas estructurales (~44 kg, 10 perfiles)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60904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84C"/>
                </a:solidFill>
              </a:rPr>
              <a:t>✓ LISTO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660904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Planos técnicos 2D — Anexos I, II y III + modelo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22092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84C"/>
                </a:solidFill>
              </a:rPr>
              <a:t>✓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02209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Plano de instalación en campo MOV-SIF-001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84C"/>
                </a:solidFill>
              </a:rPr>
              <a:t>✓ LISTO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83280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Plano Control Assembly MOV-GShow-CA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446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884C"/>
                </a:solidFill>
              </a:rPr>
              <a:t>✓ LISTO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3744468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Presupuesto de pintura RECUFLON: USD 525–620/unidad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05656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6B6"/>
                </a:solidFill>
              </a:rPr>
              <a:t>⚙ EN CURSO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05656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Perforaciones físicas del gabinete (mayo 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66844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6B6"/>
                </a:solidFill>
              </a:rPr>
              <a:t>⚙ EN CURSO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4466844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Sustitución soporte CCS2 con LED WS2812B programables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28031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6B6"/>
                </a:solidFill>
              </a:rPr>
              <a:t>⚙ EN CURSO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8280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Cotización estructural con Tincafil (archivo .STEP enviado)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89219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06060"/>
                </a:solidFill>
              </a:rPr>
              <a:t>○ PENDIENTE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5189219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Fabricación y soldadura MIG del chasis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06060"/>
                </a:solidFill>
              </a:rPr>
              <a:t>○ PENDIENTE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5550407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Terminación superficial — RECUFLON (paint on delivery)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11595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06060"/>
                </a:solidFill>
              </a:rPr>
              <a:t>○ PENDIENTE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5911595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Ensamblaje eléctrico y electrónico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1353312"/>
            <a:ext cx="4434840" cy="5166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8" y="1435608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Aprendizajes del proceso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1865376"/>
            <a:ext cx="4224528" cy="32004"/>
          </a:xfrm>
          <a:prstGeom prst="rect">
            <a:avLst/>
          </a:prstGeom>
          <a:solidFill>
            <a:srgbClr val="00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7808" y="1938528"/>
            <a:ext cx="41148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 De lo ideal a lo real: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Abandonar el biorreactor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fue una decisión estratégica.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2.  Autonomía técnica: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Diseñar para fabricar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implica conocer el proceso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físico real.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3.  Documentación viva: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Los cambios de proveedor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probaron la modularidad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    del diseño.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B4D8"/>
                </a:solidFill>
              </a:rPr>
              <a:t>"Solo importa lo que</a:t>
            </a:r>
          </a:p>
          <a:p>
            <a:pPr algn="l"/>
            <a:r>
              <a:rPr sz="1200" b="1">
                <a:solidFill>
                  <a:srgbClr val="00B4D8"/>
                </a:solidFill>
              </a:rPr>
              <a:t> documentaste."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